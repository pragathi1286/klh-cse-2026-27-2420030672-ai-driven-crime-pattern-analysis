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9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DEPARTMENT, KL UNIVERSITY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GARUDA AI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75208" y="2423160"/>
            <a:ext cx="10241280" cy="1234440"/>
          </a:xfrm>
          <a:prstGeom prst="roundRect">
            <a:avLst>
              <a:gd name="adj" fmla="val 5926"/>
            </a:avLst>
          </a:prstGeom>
          <a:solidFill>
            <a:srgbClr val="13294B"/>
          </a:solidFill>
          <a:ln w="12700">
            <a:solidFill>
              <a:srgbClr val="13A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8088" y="24688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Multi-Source, Cross-Verified, and Explainable AI Framework for Crime Pattern Analysis and Proactive Public Safety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SUBMISSION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4348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2420030672 – N. Sai Pragathi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2420030710 – S. Indu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2420030712 – A.V.N.S Anupama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2420030719 – T. Aashritha Reddy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4526280"/>
            <a:ext cx="0" cy="1371600"/>
          </a:xfrm>
          <a:prstGeom prst="line">
            <a:avLst/>
          </a:prstGeom>
          <a:noFill/>
          <a:ln w="12700">
            <a:solidFill>
              <a:srgbClr val="0D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4526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Swapnika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7F5F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&amp; Single-Modality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crime prediction systems react after the fact and rely on only one data type.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7F5F4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Predictions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9476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output a risk score with no justification behind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7F5F4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456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Cross-Verification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model's score is rarely checked from another angle.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7F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520440"/>
            <a:ext cx="457200" cy="45720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3456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&amp; Adoption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8221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limits use by law enforcement and policymakers.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492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GARUDA AI fuses multi-source data, cross-verifies every prediction, and explains every output.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Studies Across Four Research Themes — Part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38404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4173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04872" y="14173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5192" y="141732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74152" y="1417320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Relevant to GARUDA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83794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CRIME PREDICTION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9456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Ersöz, Ersöz, Marcelloni &amp; Ruffini (2025)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04872" y="219456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142 AI crime-prediction studies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19456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trustworthiness / explainability as the field's central open problem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74152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motivates GARUDA AI's explainability-first design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" y="285292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Joshi, Sharma &amp; Verma (2023)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04872" y="28529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interpretable model applied to crime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5192" y="285292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interpretable ML on crime prediction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74152" y="285292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GARUDA AI extends to multiple explainability techniques across multiple model families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5935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/ ENSEMBLE 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95020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Mandalapu, Elluri, Vyas &amp; Roy (2023)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04872" y="395020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ML/DL crime-prediction approaches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65192" y="395020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field's methods comprehensively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74152" y="395020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lack of interpretability and cross-model verification — the gap GARUDA AI targets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460857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Vanitha et al. (2025)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04872" y="460857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Behavioral-feature-based risk scoring, single 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65192" y="4608576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crime risk prediction framework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74152" y="460857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common single-model pattern; GARUDA AI moves to multi-model consensus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3492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&amp; CLUSTERING HOTSPOT PREDICTION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660136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570585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Dubey, Venu, Bisen, Garg &amp; Srinivas (2025)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404872" y="570585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Clustering-based hotspot recognition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65192" y="5705856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for hotspot identification in crime forecasting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74152" y="57058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GARUDA AI's spatial layer (DBSCAN/K-Means), extended with cross-checks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Studies Across Four Research Themes — Part 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38404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4173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/ Year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04872" y="14173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5192" y="141732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74152" y="1417320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Relevant to GARUDA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83794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&amp; CLUSTERING HOTSPOT PREDICTION (CONT.)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9456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Mao, Du, Wen, Li, Zhang &amp; Zhong (2025)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04872" y="219456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spatiotemporal forecasting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19456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crime-count forecasting 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74152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LSTM-based temporal modeling used in GARUDA AI's temporal layer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" y="2852928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authors (2025)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04872" y="28529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+ eLSTM + ST-GNN hybrid forecasting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5192" y="285292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clustering, temporal and graph models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74152" y="285292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but adds no explainability or anomaly check — a gap GARUDA AI fills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51129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Butt, Letchmunan, Hassan et al. (2020)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04872" y="351129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 of hotspot detection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65192" y="3511296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clustering + time-series/DL as standard techniques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74152" y="351129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the missing link to explainability, addressed by GARUDA 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SOCIAL-MEDIA CRIME DETECTION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62856"/>
            <a:ext cx="11274552" cy="6583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60857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Zapata Rozo et al. (2024)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04872" y="460857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framework detecting hostile social manipulation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65192" y="4608576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extremist-network signals for law enforcement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74152" y="460857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GARUDA AI's NLP module for social-media threat signals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0352" y="526694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Bokolo, Onyehanere, Ogegbene-Ise &amp; Olufemi (2023)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04872" y="5266944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ML for crime intent detection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65192" y="526694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crime intent in social-media text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74152" y="526694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automated crime-signal extraction as performed by GARUDA AI's NLP module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Identified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23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984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use a single data modality — not all three fused together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2585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where present, uses only one technique (SHAP or LIME alone)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21868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rarely cross-verified from more than one modeling angle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1788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stops at Accuracy / F1-Score — broader validation is uncommon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5138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frameworks reach a deployable system with live dashboard &amp; alerting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Data &amp; Predictive Core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7F5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D7A7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61848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Multi-Source Data Pipeline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1945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r>
              <a:rPr lang="en-US" sz="16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— automated cleaning, categorical encoding, geocoding, and normalization of structured, geospatial, weather/census, and textual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E7F5F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931920"/>
            <a:ext cx="640080" cy="640080"/>
          </a:xfrm>
          <a:prstGeom prst="ellipse">
            <a:avLst/>
          </a:prstGeom>
          <a:solidFill>
            <a:srgbClr val="0D7A7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8130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Predictive Core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3891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r>
              <a:rPr lang="en-US" sz="16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XGBoost, LightGBM, and CatBoost — ensembled instead of a single classifier.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— Verification, Explainability &amp; Delivery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7F5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90472"/>
            <a:ext cx="548640" cy="548640"/>
          </a:xfrm>
          <a:prstGeom prst="ellipse">
            <a:avLst/>
          </a:prstGeom>
          <a:solidFill>
            <a:srgbClr val="0D7A7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Cross-Verify Every High-Risk Prediction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r>
              <a:rPr lang="en-US" sz="14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(statistical), LSTM (temporal), and DBSCAN / K-Means (spatial) verification.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7F5F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907792"/>
            <a:ext cx="548640" cy="548640"/>
          </a:xfrm>
          <a:prstGeom prst="ellipse">
            <a:avLst/>
          </a:prstGeom>
          <a:solidFill>
            <a:srgbClr val="0D7A7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Auditable Predictions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27355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r>
              <a:rPr lang="en-US" sz="14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Feature Importance, Partial Dependence, and Counterfactual / Anchor explanations.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7F5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0D7A7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389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Decision-Ready Delivery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8737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r>
              <a:rPr lang="en-US" sz="14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hotspot maps and reports, plus multi-channel (email / SMS / push) alerts.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Cross-Verification Consensus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874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3294B"/>
          </a:solidFill>
          <a:ln w="15875">
            <a:solidFill>
              <a:srgbClr val="13A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328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2328" y="2377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95648" y="1874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3294B"/>
          </a:solidFill>
          <a:ln w="15875">
            <a:solidFill>
              <a:srgbClr val="13A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5648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95648" y="2377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98968" y="1874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3294B"/>
          </a:solidFill>
          <a:ln w="15875">
            <a:solidFill>
              <a:srgbClr val="13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8968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8968" y="2377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K-Means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392528" y="3108960"/>
            <a:ext cx="0" cy="502920"/>
          </a:xfrm>
          <a:prstGeom prst="line">
            <a:avLst/>
          </a:prstGeom>
          <a:noFill/>
          <a:ln w="25400">
            <a:solidFill>
              <a:srgbClr val="13A8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5848" y="3108960"/>
            <a:ext cx="0" cy="502920"/>
          </a:xfrm>
          <a:prstGeom prst="line">
            <a:avLst/>
          </a:prstGeom>
          <a:noFill/>
          <a:ln w="25400">
            <a:solidFill>
              <a:srgbClr val="13A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99168" y="3108960"/>
            <a:ext cx="0" cy="502920"/>
          </a:xfrm>
          <a:prstGeom prst="line">
            <a:avLst/>
          </a:prstGeom>
          <a:noFill/>
          <a:ln w="25400">
            <a:solidFill>
              <a:srgbClr val="13A8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1208" y="36118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13A8A0"/>
          </a:solidFill>
          <a:ln/>
        </p:spPr>
      </p:sp>
      <p:sp>
        <p:nvSpPr>
          <p:cNvPr id="17" name="Text 15"/>
          <p:cNvSpPr/>
          <p:nvPr/>
        </p:nvSpPr>
        <p:spPr>
          <a:xfrm>
            <a:off x="3261208" y="36118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GATE — all three must agree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95848" y="4480560"/>
            <a:ext cx="0" cy="411480"/>
          </a:xfrm>
          <a:prstGeom prst="line">
            <a:avLst/>
          </a:prstGeom>
          <a:noFill/>
          <a:ln w="25400">
            <a:solidFill>
              <a:srgbClr val="13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648" y="4892040"/>
            <a:ext cx="7772400" cy="6858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2700">
            <a:solidFill>
              <a:srgbClr val="13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9648" y="4892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prediction → 5-Technique Explainability Layer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is confirmed high-risk only when statistical, temporal, and spatial verification all agree — no reviewed paper joins multi-angle verification with multi-technique explainability in one gated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5168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13A8A0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8320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28320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geo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census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social media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19376" y="2075688"/>
            <a:ext cx="201168" cy="237744"/>
          </a:xfrm>
          <a:prstGeom prst="rightArrow">
            <a:avLst/>
          </a:prstGeom>
          <a:solidFill>
            <a:srgbClr val="0C2340"/>
          </a:solidFill>
          <a:ln/>
        </p:spPr>
      </p:sp>
      <p:sp>
        <p:nvSpPr>
          <p:cNvPr id="7" name="Shape 5"/>
          <p:cNvSpPr/>
          <p:nvPr/>
        </p:nvSpPr>
        <p:spPr>
          <a:xfrm>
            <a:off x="2493112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13A8A0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6264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6264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57320" y="2075688"/>
            <a:ext cx="201168" cy="237744"/>
          </a:xfrm>
          <a:prstGeom prst="rightArrow">
            <a:avLst/>
          </a:prstGeom>
          <a:solidFill>
            <a:srgbClr val="0C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4331056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13A8A0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04208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4208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DT · RF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5264" y="2075688"/>
            <a:ext cx="201168" cy="237744"/>
          </a:xfrm>
          <a:prstGeom prst="rightArrow">
            <a:avLst/>
          </a:prstGeom>
          <a:solidFill>
            <a:srgbClr val="0C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69000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13A8A0"/>
          </a:solidFill>
          <a:ln w="19050">
            <a:solidFill>
              <a:srgbClr val="0D7A7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2152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2152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K-Means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33208" y="2075688"/>
            <a:ext cx="201168" cy="237744"/>
          </a:xfrm>
          <a:prstGeom prst="rightArrow">
            <a:avLst/>
          </a:prstGeom>
          <a:solidFill>
            <a:srgbClr val="0C2340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6944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13A8A0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80096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80096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LIME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71152" y="2075688"/>
            <a:ext cx="201168" cy="237744"/>
          </a:xfrm>
          <a:prstGeom prst="rightArrow">
            <a:avLst/>
          </a:prstGeom>
          <a:solidFill>
            <a:srgbClr val="0C2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9844888" y="141732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13A8A0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18040" y="150876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18040" y="1947672"/>
            <a:ext cx="15453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maps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/ push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4747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high-risk flag must clear the Cross-Verification Consensus Layer before reaching the explainability stage.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3A8A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3A8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 Datasets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Communities &amp; Crime, Chicago Crime, and NCRB Crime in India — public, well-documented, already used in surveyed literature.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3A8A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3A8A0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08576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Open-Source Stack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LightGBM, CatBoost, TensorFlow / PyTorch, SHAP, LIME — strong documentation and precedent.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9872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3A8A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1828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3A8A0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4192" y="2514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Compute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32461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and boosting models are trainable on standard hardware or free-tier cloud compute.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3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7F5F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21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Conceptualization &amp; Requirements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definition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Literature survey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Requirement analysis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collection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3364992"/>
            <a:ext cx="228600" cy="219456"/>
          </a:xfrm>
          <a:prstGeom prst="rightArrow">
            <a:avLst/>
          </a:prstGeom>
          <a:solidFill>
            <a:srgbClr val="13A8A0"/>
          </a:solidFill>
          <a:ln/>
        </p:spPr>
      </p:sp>
      <p:sp>
        <p:nvSpPr>
          <p:cNvPr id="8" name="Shape 6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2121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Intelligence Modeling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9718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Preprocessing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 6 core classifiers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consensus layer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Hotspot mining &amp; risk scoring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72984" y="3364992"/>
            <a:ext cx="228600" cy="219456"/>
          </a:xfrm>
          <a:prstGeom prst="rightArrow">
            <a:avLst/>
          </a:prstGeom>
          <a:solidFill>
            <a:srgbClr val="13A8A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19872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E7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III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4192" y="21214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Validation &amp; Deployment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297180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&amp; alert system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metric-suite evaluation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Explainability layer applied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 &amp; documentation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3A8A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600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multi-source data through six distinct predictive models instead of one classifier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13A8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651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Cross-verifies every high-risk prediction across statistical, temporal, and spatial angles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13A8A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703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five-technique explainability layer ensures every output is transparent and auditable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13A8A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 public benchmark datasets and mature open-source tools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E7F5F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2420030672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14600" y="1463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Sai Pragathi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E7F5F4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1463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Indu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E7F5F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A.V.N.S Anupama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E7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834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2420030719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2834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Aashritha Reddy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43891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Swapnika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096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Department, KL University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Microsoft Office PowerPoint</Application>
  <PresentationFormat>Widescreen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Aashritha Reddy</cp:lastModifiedBy>
  <cp:revision>2</cp:revision>
  <dcterms:created xsi:type="dcterms:W3CDTF">2026-08-08T06:06:15Z</dcterms:created>
  <dcterms:modified xsi:type="dcterms:W3CDTF">2026-08-08T06:08:12Z</dcterms:modified>
</cp:coreProperties>
</file>